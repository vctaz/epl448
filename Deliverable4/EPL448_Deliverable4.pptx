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media/image14.jpg" ContentType="image/jpg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media/image15.jpg" ContentType="image/jpg"/>
  <Override PartName="/ppt/notesSlides/notesSlide17.xml" ContentType="application/vnd.openxmlformats-officedocument.presentationml.notesSlide+xml"/>
  <Override PartName="/ppt/media/image16.jpg" ContentType="image/jpg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media/image17.jpg" ContentType="image/jpg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5" d="100"/>
          <a:sy n="145" d="100"/>
        </p:scale>
        <p:origin x="100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85223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80902" y="950797"/>
            <a:ext cx="7182197" cy="3230963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085851" y="1058711"/>
            <a:ext cx="6972300" cy="3026078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3851910" y="950798"/>
            <a:ext cx="1440180" cy="5486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3937635" y="950798"/>
            <a:ext cx="1268730" cy="483971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71281" y="1568447"/>
            <a:ext cx="6801440" cy="19431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5400" b="0" kern="1200" cap="all" spc="-75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71575" y="3511547"/>
            <a:ext cx="6803136" cy="3429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200" spc="60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200"/>
            </a:lvl2pPr>
            <a:lvl3pPr marL="685800" indent="0" algn="ctr">
              <a:buNone/>
              <a:defRPr sz="120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3989070" y="1005942"/>
            <a:ext cx="1165860" cy="395410"/>
          </a:xfrm>
        </p:spPr>
        <p:txBody>
          <a:bodyPr/>
          <a:lstStyle>
            <a:lvl1pPr algn="ctr">
              <a:defRPr sz="975" spc="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43F374CD-9994-4E0C-956A-007C8D655EE3}" type="datetimeFigureOut">
              <a:rPr lang="LID4096" smtClean="0"/>
              <a:t>04/13/2026</a:t>
            </a:fld>
            <a:endParaRPr lang="LID4096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090422" y="3908295"/>
            <a:ext cx="4429125" cy="171450"/>
          </a:xfrm>
        </p:spPr>
        <p:txBody>
          <a:bodyPr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6455190" y="3909060"/>
            <a:ext cx="1583911" cy="17145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C9724EBF-4893-4A2E-BA5F-86CCA421643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2822296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374CD-9994-4E0C-956A-007C8D655EE3}" type="datetimeFigureOut">
              <a:rPr lang="LID4096" smtClean="0"/>
              <a:t>04/13/2026</a:t>
            </a:fld>
            <a:endParaRPr lang="LID4096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24EBF-4893-4A2E-BA5F-86CCA421643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45874980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980902" y="950797"/>
            <a:ext cx="7182197" cy="3230963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085850" y="1058711"/>
            <a:ext cx="6972300" cy="3026078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3851910" y="950798"/>
            <a:ext cx="1440180" cy="5486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3937635" y="950798"/>
            <a:ext cx="1268730" cy="483971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2717" y="1570732"/>
            <a:ext cx="6803136" cy="1940814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5400" kern="1200" cap="all" spc="-75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2718" y="3511547"/>
            <a:ext cx="6803136" cy="342900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>
                <a:solidFill>
                  <a:schemeClr val="tx1"/>
                </a:solidFill>
                <a:effectLst/>
              </a:defRPr>
            </a:lvl1pPr>
            <a:lvl2pPr marL="3429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991356" y="1008377"/>
            <a:ext cx="1165860" cy="397764"/>
          </a:xfrm>
        </p:spPr>
        <p:txBody>
          <a:bodyPr/>
          <a:lstStyle>
            <a:lvl1pPr algn="ctr">
              <a:defRPr lang="en-US" sz="975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43F374CD-9994-4E0C-956A-007C8D655EE3}" type="datetimeFigureOut">
              <a:rPr lang="LID4096" smtClean="0"/>
              <a:t>04/13/2026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090165" y="3908295"/>
            <a:ext cx="4430268" cy="171450"/>
          </a:xfrm>
        </p:spPr>
        <p:txBody>
          <a:bodyPr/>
          <a:lstStyle>
            <a:lvl1pPr algn="l">
              <a:defRPr/>
            </a:lvl1pPr>
          </a:lstStyle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3378" y="3908295"/>
            <a:ext cx="1584198" cy="171450"/>
          </a:xfrm>
        </p:spPr>
        <p:txBody>
          <a:bodyPr/>
          <a:lstStyle/>
          <a:p>
            <a:fld id="{C9724EBF-4893-4A2E-BA5F-86CCA421643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5971339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0100" y="1577340"/>
            <a:ext cx="3566160" cy="2811780"/>
          </a:xfrm>
        </p:spPr>
        <p:txBody>
          <a:bodyPr/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7740" y="1577340"/>
            <a:ext cx="3566160" cy="2811780"/>
          </a:xfrm>
        </p:spPr>
        <p:txBody>
          <a:bodyPr/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374CD-9994-4E0C-956A-007C8D655EE3}" type="datetimeFigureOut">
              <a:rPr lang="LID4096" smtClean="0"/>
              <a:t>04/13/2026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24EBF-4893-4A2E-BA5F-86CCA421643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4006264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2386" y="1555751"/>
            <a:ext cx="3566160" cy="48006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425" b="0">
                <a:solidFill>
                  <a:schemeClr val="tx2"/>
                </a:solidFill>
                <a:latin typeface="+mn-lt"/>
              </a:defRPr>
            </a:lvl1pPr>
            <a:lvl2pPr marL="342900" indent="0">
              <a:buNone/>
              <a:defRPr sz="1425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02386" y="2066924"/>
            <a:ext cx="3566160" cy="2400300"/>
          </a:xfrm>
        </p:spPr>
        <p:txBody>
          <a:bodyPr/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80026" y="1555751"/>
            <a:ext cx="3566160" cy="48006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425" b="0">
                <a:solidFill>
                  <a:schemeClr val="tx2"/>
                </a:solidFill>
              </a:defRPr>
            </a:lvl1pPr>
            <a:lvl2pPr marL="342900" indent="0">
              <a:buNone/>
              <a:defRPr sz="1425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80026" y="2067436"/>
            <a:ext cx="3566160" cy="2400300"/>
          </a:xfrm>
        </p:spPr>
        <p:txBody>
          <a:bodyPr/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374CD-9994-4E0C-956A-007C8D655EE3}" type="datetimeFigureOut">
              <a:rPr lang="LID4096" smtClean="0"/>
              <a:t>04/13/2026</a:t>
            </a:fld>
            <a:endParaRPr lang="LID4096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24EBF-4893-4A2E-BA5F-86CCA421643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418166039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374CD-9994-4E0C-956A-007C8D655EE3}" type="datetimeFigureOut">
              <a:rPr lang="LID4096" smtClean="0"/>
              <a:t>04/13/2026</a:t>
            </a:fld>
            <a:endParaRPr lang="LID4096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24EBF-4893-4A2E-BA5F-86CCA421643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945141378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374CD-9994-4E0C-956A-007C8D655EE3}" type="datetimeFigureOut">
              <a:rPr lang="LID4096" smtClean="0"/>
              <a:t>04/13/2026</a:t>
            </a:fld>
            <a:endParaRPr lang="LID4096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24EBF-4893-4A2E-BA5F-86CCA421643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180874725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184147" y="178308"/>
            <a:ext cx="6398514" cy="478688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6765290" y="178308"/>
            <a:ext cx="2194560" cy="47868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72300" y="455544"/>
            <a:ext cx="1823085" cy="1234440"/>
          </a:xfrm>
        </p:spPr>
        <p:txBody>
          <a:bodyPr anchor="b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100" b="0" kern="1200" cap="none" spc="0" baseline="0" dirty="0">
                <a:solidFill>
                  <a:srgbClr val="FFFFFF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4350" y="457200"/>
            <a:ext cx="5829300" cy="4000500"/>
          </a:xfrm>
        </p:spPr>
        <p:txBody>
          <a:bodyPr/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72300" y="1714500"/>
            <a:ext cx="1823085" cy="26289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600"/>
              </a:spcBef>
              <a:buNone/>
              <a:defRPr sz="1050">
                <a:solidFill>
                  <a:srgbClr val="FFFFFF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374CD-9994-4E0C-956A-007C8D655EE3}" type="datetimeFigureOut">
              <a:rPr lang="LID4096" smtClean="0"/>
              <a:t>04/13/2026</a:t>
            </a:fld>
            <a:endParaRPr lang="LID4096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LID4096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7795258" y="4667252"/>
            <a:ext cx="1097280" cy="20574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C9724EBF-4893-4A2E-BA5F-86CCA4216433}" type="slidenum">
              <a:rPr lang="LID4096" smtClean="0"/>
              <a:t>‹#›</a:t>
            </a:fld>
            <a:endParaRPr lang="LID4096"/>
          </a:p>
        </p:txBody>
      </p:sp>
      <p:sp>
        <p:nvSpPr>
          <p:cNvPr id="12" name="Rectangle 11"/>
          <p:cNvSpPr/>
          <p:nvPr/>
        </p:nvSpPr>
        <p:spPr>
          <a:xfrm>
            <a:off x="6868160" y="281178"/>
            <a:ext cx="1988820" cy="4581144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989887071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6765290" y="178308"/>
            <a:ext cx="2194560" cy="47868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72300" y="452628"/>
            <a:ext cx="1824228" cy="1234440"/>
          </a:xfrm>
        </p:spPr>
        <p:txBody>
          <a:bodyPr anchor="b">
            <a:noAutofit/>
          </a:bodyPr>
          <a:lstStyle>
            <a:lvl1pPr algn="l">
              <a:defRPr sz="2100" b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1449" y="178308"/>
            <a:ext cx="6398514" cy="4786884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72300" y="1714500"/>
            <a:ext cx="1824228" cy="2626614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600"/>
              </a:spcBef>
              <a:buNone/>
              <a:defRPr sz="1050">
                <a:solidFill>
                  <a:srgbClr val="FFFFFF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43F374CD-9994-4E0C-956A-007C8D655EE3}" type="datetimeFigureOut">
              <a:rPr lang="LID4096" smtClean="0"/>
              <a:t>04/13/2026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685800" rtl="0" eaLnBrk="1" latinLnBrk="0" hangingPunct="1">
              <a:defRPr lang="en-US" sz="750" kern="1200" dirty="0"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797546" y="4670298"/>
            <a:ext cx="1097280" cy="20574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C9724EBF-4893-4A2E-BA5F-86CCA4216433}" type="slidenum">
              <a:rPr lang="LID4096" smtClean="0"/>
              <a:t>‹#›</a:t>
            </a:fld>
            <a:endParaRPr lang="LID4096"/>
          </a:p>
        </p:txBody>
      </p:sp>
      <p:sp>
        <p:nvSpPr>
          <p:cNvPr id="10" name="Rectangle 9"/>
          <p:cNvSpPr/>
          <p:nvPr/>
        </p:nvSpPr>
        <p:spPr>
          <a:xfrm>
            <a:off x="6868160" y="281178"/>
            <a:ext cx="1988820" cy="4581144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954339483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374CD-9994-4E0C-956A-007C8D655EE3}" type="datetimeFigureOut">
              <a:rPr lang="LID4096" smtClean="0"/>
              <a:t>04/13/2026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24EBF-4893-4A2E-BA5F-86CCA421643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90520940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3700" y="571500"/>
            <a:ext cx="1771650" cy="39433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571500"/>
            <a:ext cx="6057900" cy="39433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374CD-9994-4E0C-956A-007C8D655EE3}" type="datetimeFigureOut">
              <a:rPr lang="LID4096" smtClean="0"/>
              <a:t>04/13/2026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24EBF-4893-4A2E-BA5F-86CCA421643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23594933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205400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76022" y="178308"/>
            <a:ext cx="8791956" cy="4786884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00100" y="481946"/>
            <a:ext cx="7543800" cy="10287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0100" y="1577340"/>
            <a:ext cx="7543800" cy="29489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5740" y="4730754"/>
            <a:ext cx="2057400" cy="20574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7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43F374CD-9994-4E0C-956A-007C8D655EE3}" type="datetimeFigureOut">
              <a:rPr lang="LID4096" smtClean="0"/>
              <a:t>04/13/2026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17470" y="4730754"/>
            <a:ext cx="3909060" cy="20574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7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52410" y="4730754"/>
            <a:ext cx="1097280" cy="20574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7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C9724EBF-4893-4A2E-BA5F-86CCA421643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1505080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9" r:id="rId1"/>
    <p:sldLayoutId id="2147483730" r:id="rId2"/>
    <p:sldLayoutId id="2147483731" r:id="rId3"/>
    <p:sldLayoutId id="2147483732" r:id="rId4"/>
    <p:sldLayoutId id="2147483733" r:id="rId5"/>
    <p:sldLayoutId id="2147483734" r:id="rId6"/>
    <p:sldLayoutId id="2147483735" r:id="rId7"/>
    <p:sldLayoutId id="2147483736" r:id="rId8"/>
    <p:sldLayoutId id="2147483737" r:id="rId9"/>
    <p:sldLayoutId id="2147483738" r:id="rId10"/>
    <p:sldLayoutId id="2147483739" r:id="rId11"/>
    <p:sldLayoutId id="2147483740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lang="en-US" sz="36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37160" indent="-137160" algn="l" defTabSz="685800" rtl="0" eaLnBrk="1" latinLnBrk="0" hangingPunct="1">
        <a:lnSpc>
          <a:spcPct val="100000"/>
        </a:lnSpc>
        <a:spcBef>
          <a:spcPts val="675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37160" algn="l" defTabSz="685800" rtl="0" eaLnBrk="1" latinLnBrk="0" hangingPunct="1">
        <a:lnSpc>
          <a:spcPct val="100000"/>
        </a:lnSpc>
        <a:spcBef>
          <a:spcPts val="375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" indent="-137160" algn="l" defTabSz="685800" rtl="0" eaLnBrk="1" latinLnBrk="0" hangingPunct="1">
        <a:lnSpc>
          <a:spcPct val="100000"/>
        </a:lnSpc>
        <a:spcBef>
          <a:spcPts val="375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754380" indent="-137160" algn="l" defTabSz="685800" rtl="0" eaLnBrk="1" latinLnBrk="0" hangingPunct="1">
        <a:lnSpc>
          <a:spcPct val="100000"/>
        </a:lnSpc>
        <a:spcBef>
          <a:spcPts val="375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050" kern="1200">
          <a:solidFill>
            <a:schemeClr val="tx1"/>
          </a:solidFill>
          <a:latin typeface="+mn-lt"/>
          <a:ea typeface="+mn-ea"/>
          <a:cs typeface="+mn-cs"/>
        </a:defRPr>
      </a:lvl4pPr>
      <a:lvl5pPr marL="960120" indent="-137160" algn="l" defTabSz="685800" rtl="0" eaLnBrk="1" latinLnBrk="0" hangingPunct="1">
        <a:lnSpc>
          <a:spcPct val="100000"/>
        </a:lnSpc>
        <a:spcBef>
          <a:spcPts val="375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050" kern="1200">
          <a:solidFill>
            <a:schemeClr val="tx1"/>
          </a:solidFill>
          <a:latin typeface="+mn-lt"/>
          <a:ea typeface="+mn-ea"/>
          <a:cs typeface="+mn-cs"/>
        </a:defRPr>
      </a:lvl5pPr>
      <a:lvl6pPr marL="1200000" indent="-171450" algn="l" defTabSz="685800" rtl="0" eaLnBrk="1" latinLnBrk="0" hangingPunct="1">
        <a:lnSpc>
          <a:spcPct val="100000"/>
        </a:lnSpc>
        <a:spcBef>
          <a:spcPts val="375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1425000" indent="-171450" algn="l" defTabSz="685800" rtl="0" eaLnBrk="1" latinLnBrk="0" hangingPunct="1">
        <a:lnSpc>
          <a:spcPct val="100000"/>
        </a:lnSpc>
        <a:spcBef>
          <a:spcPts val="375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1650000" indent="-171450" algn="l" defTabSz="685800" rtl="0" eaLnBrk="1" latinLnBrk="0" hangingPunct="1">
        <a:lnSpc>
          <a:spcPct val="100000"/>
        </a:lnSpc>
        <a:spcBef>
          <a:spcPts val="375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050" kern="1200">
          <a:solidFill>
            <a:schemeClr val="tx1"/>
          </a:solidFill>
          <a:latin typeface="+mn-lt"/>
          <a:ea typeface="+mn-ea"/>
          <a:cs typeface="+mn-cs"/>
        </a:defRPr>
      </a:lvl8pPr>
      <a:lvl9pPr marL="1875000" indent="-171450" algn="l" defTabSz="685800" rtl="0" eaLnBrk="1" latinLnBrk="0" hangingPunct="1">
        <a:lnSpc>
          <a:spcPct val="100000"/>
        </a:lnSpc>
        <a:spcBef>
          <a:spcPts val="375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0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0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1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D8B00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3" name="Image 0" descr="/home/claude/ucylogo_transparent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840480" y="36576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155448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Predictive Model Development</a:t>
            </a:r>
            <a:endParaRPr lang="en-US" sz="32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the CERN Dielectron Dataset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914400" y="29260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Invariant Mass Regression using Machine Learning</a:t>
            </a:r>
            <a:endParaRPr lang="en-US" sz="1600" dirty="0">
              <a:solidFill>
                <a:srgbClr val="FF9900"/>
              </a:solidFill>
            </a:endParaRPr>
          </a:p>
        </p:txBody>
      </p:sp>
      <p:sp>
        <p:nvSpPr>
          <p:cNvPr id="6" name="Shape 3"/>
          <p:cNvSpPr/>
          <p:nvPr/>
        </p:nvSpPr>
        <p:spPr>
          <a:xfrm>
            <a:off x="3200400" y="3566160"/>
            <a:ext cx="2743200" cy="13716"/>
          </a:xfrm>
          <a:prstGeom prst="rect">
            <a:avLst/>
          </a:prstGeom>
          <a:solidFill>
            <a:srgbClr val="ED8B00">
              <a:alpha val="50000"/>
            </a:srgbClr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7" name="Text 4"/>
          <p:cNvSpPr/>
          <p:nvPr/>
        </p:nvSpPr>
        <p:spPr>
          <a:xfrm>
            <a:off x="914400" y="3749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EPL448 – Data Mining on the Web  |  Spring 2026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14400" y="4114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D8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2:   Varnavas Tryfonos  ·  Thrasos Sazeides  ·  Andreas Evagorou</a:t>
            </a:r>
            <a:endParaRPr lang="en-US" sz="1300" dirty="0"/>
          </a:p>
        </p:txBody>
      </p:sp>
      <p:pic>
        <p:nvPicPr>
          <p:cNvPr id="9" name="Image 1" descr="/mnt/user-data/uploads/ucy_cs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743200" y="4526280"/>
            <a:ext cx="365760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Presentation Outline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371600" cy="36576"/>
          </a:xfrm>
          <a:prstGeom prst="rect">
            <a:avLst/>
          </a:prstGeom>
          <a:solidFill>
            <a:srgbClr val="ED8B00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8046720" cy="53035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271016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2070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the Domain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280160" y="1463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Particle physics &amp; invariant mass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1810512"/>
            <a:ext cx="8046720" cy="53035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892808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80160" y="1828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1280160" y="20848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100K dielectron events from CMS/LHC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548640" y="2432304"/>
            <a:ext cx="8046720" cy="53035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251460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80160" y="24505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1280160" y="2706624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Distributions, correlations, physics structures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548640" y="3054096"/>
            <a:ext cx="8046720" cy="53035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3136392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80160" y="307238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1280160" y="332841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dataset versions, feature engineering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548640" y="3675888"/>
            <a:ext cx="8046720" cy="53035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" y="3758184"/>
            <a:ext cx="365760" cy="36576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280160" y="36941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Techniques &amp; Results</a:t>
            </a:r>
            <a:endParaRPr lang="en-US" sz="1400" dirty="0"/>
          </a:p>
        </p:txBody>
      </p:sp>
      <p:sp>
        <p:nvSpPr>
          <p:cNvPr id="23" name="Text 16"/>
          <p:cNvSpPr/>
          <p:nvPr/>
        </p:nvSpPr>
        <p:spPr>
          <a:xfrm>
            <a:off x="1280160" y="39502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models, screening, tuning, final evaluation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548640" y="4297680"/>
            <a:ext cx="8046720" cy="53035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26" name="Text 18"/>
          <p:cNvSpPr/>
          <p:nvPr/>
        </p:nvSpPr>
        <p:spPr>
          <a:xfrm>
            <a:off x="1280160" y="43159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&amp; Comparison</a:t>
            </a:r>
            <a:endParaRPr lang="en-US" sz="1400" dirty="0"/>
          </a:p>
        </p:txBody>
      </p:sp>
      <p:sp>
        <p:nvSpPr>
          <p:cNvPr id="27" name="Text 19"/>
          <p:cNvSpPr/>
          <p:nvPr/>
        </p:nvSpPr>
        <p:spPr>
          <a:xfrm>
            <a:off x="1280160" y="45720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validation, literature, limitations</a:t>
            </a:r>
            <a:endParaRPr lang="en-US" sz="1100" dirty="0"/>
          </a:p>
        </p:txBody>
      </p:sp>
      <p:sp>
        <p:nvSpPr>
          <p:cNvPr id="28" name="Shape 2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29" name="Image 6" descr="/home/claude/ucylogo_transparent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137160" y="4773168"/>
            <a:ext cx="347472" cy="347472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548640" y="47731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2  ·  CERN Dielectron Dataset  ·  EPL448 Spring 2026</a:t>
            </a:r>
            <a:endParaRPr lang="en-US" sz="900" dirty="0"/>
          </a:p>
        </p:txBody>
      </p:sp>
      <p:pic>
        <p:nvPicPr>
          <p:cNvPr id="32" name="Graphic 31" descr="Magnifying glass with solid fill">
            <a:extLst>
              <a:ext uri="{FF2B5EF4-FFF2-40B4-BE49-F238E27FC236}">
                <a16:creationId xmlns:a16="http://schemas.microsoft.com/office/drawing/2014/main" id="{654520AB-D56A-2723-C8C9-C3BCB9E3AB7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85800" y="4315968"/>
            <a:ext cx="484632" cy="48463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Introduction to the Domain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371600" cy="36576"/>
          </a:xfrm>
          <a:prstGeom prst="rect">
            <a:avLst/>
          </a:prstGeom>
          <a:solidFill>
            <a:srgbClr val="ED8B00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Large Hadron Collider (LHC) at CERN, protons collide at nearly the speed of light, producing showers of subatomic particles.</a:t>
            </a:r>
            <a:endParaRPr lang="en-US" sz="13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CMS detector records dielectron events — collisions producing electron–positron pairs (e⁺e⁻).</a:t>
            </a:r>
            <a:endParaRPr lang="en-US" sz="13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invariant mass M of the pair reveals the parent particle: peaks at ~3.1 GeV (J/ψ meson), ~9.5 GeV (Υ meson), and ~91 GeV (Z boson).</a:t>
            </a:r>
            <a:endParaRPr lang="en-US" sz="1300" dirty="0"/>
          </a:p>
          <a:p>
            <a:pPr marL="0" indent="0">
              <a:buNone/>
            </a:pPr>
            <a:r>
              <a:rPr lang="en-US" sz="1400" b="1" dirty="0">
                <a:solidFill>
                  <a:srgbClr val="ED8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Goal: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regression models to predict invariant mass M from raw kinematic features — a continuous prediction task across the full mass spectrum.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760720" y="1188720"/>
            <a:ext cx="292608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6" name="Shape 4"/>
          <p:cNvSpPr/>
          <p:nvPr/>
        </p:nvSpPr>
        <p:spPr>
          <a:xfrm>
            <a:off x="5760720" y="1188720"/>
            <a:ext cx="73152" cy="868680"/>
          </a:xfrm>
          <a:prstGeom prst="rect">
            <a:avLst/>
          </a:prstGeom>
          <a:solidFill>
            <a:srgbClr val="EF476F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7" name="Text 5"/>
          <p:cNvSpPr/>
          <p:nvPr/>
        </p:nvSpPr>
        <p:spPr>
          <a:xfrm>
            <a:off x="6035040" y="12801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J/ψ Meson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35040" y="16002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F47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~3.1 GeV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5760720" y="2286000"/>
            <a:ext cx="292608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0" name="Shape 8"/>
          <p:cNvSpPr/>
          <p:nvPr/>
        </p:nvSpPr>
        <p:spPr>
          <a:xfrm>
            <a:off x="5760720" y="2286000"/>
            <a:ext cx="73152" cy="868680"/>
          </a:xfrm>
          <a:prstGeom prst="rect">
            <a:avLst/>
          </a:prstGeom>
          <a:solidFill>
            <a:srgbClr val="FFCD00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1" name="Text 9"/>
          <p:cNvSpPr/>
          <p:nvPr/>
        </p:nvSpPr>
        <p:spPr>
          <a:xfrm>
            <a:off x="6035040" y="23774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Υ Meson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035040" y="26974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CD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~9.5 GeV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760720" y="3383280"/>
            <a:ext cx="292608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4" name="Shape 12"/>
          <p:cNvSpPr/>
          <p:nvPr/>
        </p:nvSpPr>
        <p:spPr>
          <a:xfrm>
            <a:off x="5760720" y="3383280"/>
            <a:ext cx="73152" cy="868680"/>
          </a:xfrm>
          <a:prstGeom prst="rect">
            <a:avLst/>
          </a:prstGeom>
          <a:solidFill>
            <a:srgbClr val="ED8B00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5" name="Text 13"/>
          <p:cNvSpPr/>
          <p:nvPr/>
        </p:nvSpPr>
        <p:spPr>
          <a:xfrm>
            <a:off x="6035040" y="34747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Boson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035040" y="37947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D8B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~91 GeV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18" name="Image 0" descr="/home/claude/ucylogo_transparent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7160" y="4773168"/>
            <a:ext cx="347472" cy="347472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548640" y="47731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2  ·  CERN Dielectron Dataset  ·  EPL448 Spring 2026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 Overview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371600" cy="36576"/>
          </a:xfrm>
          <a:prstGeom prst="rect">
            <a:avLst/>
          </a:prstGeom>
          <a:solidFill>
            <a:srgbClr val="ED8B00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192024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D8B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100,000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651760" y="1097280"/>
            <a:ext cx="192024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8" name="Text 6"/>
          <p:cNvSpPr/>
          <p:nvPr/>
        </p:nvSpPr>
        <p:spPr>
          <a:xfrm>
            <a:off x="2651760" y="11430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651760" y="16916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097280"/>
            <a:ext cx="192024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1" name="Text 9"/>
          <p:cNvSpPr/>
          <p:nvPr/>
        </p:nvSpPr>
        <p:spPr>
          <a:xfrm>
            <a:off x="4754880" y="11430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CD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Target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754880" y="16916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Invariant Mass M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58000" y="1097280"/>
            <a:ext cx="192024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4" name="Text 12"/>
          <p:cNvSpPr/>
          <p:nvPr/>
        </p:nvSpPr>
        <p:spPr>
          <a:xfrm>
            <a:off x="6858000" y="11430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4D6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858000" y="16916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1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77440"/>
          <a:ext cx="8046720" cy="169164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Energy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E1, E2, pt1, pt2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Momentum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px1, px2, py1, py2, pz1, pz2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Angular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eta1, eta2, phi1, phi2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Q1, Q2  (values: -1, +1)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Categorical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ED8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ED8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 (invariant mass in GeV)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ED8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Continuous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7" name="Text 14"/>
          <p:cNvSpPr/>
          <p:nvPr/>
        </p:nvSpPr>
        <p:spPr>
          <a:xfrm>
            <a:off x="548640" y="43434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CERN Open Data Portal — CMS Run 2010B dielectron events (McCauley, 2014)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19" name="Image 0" descr="/home/claude/ucylogo_transparent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7160" y="4773168"/>
            <a:ext cx="347472" cy="347472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48640" y="47731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2  ·  CERN Dielectron Dataset  ·  EPL448 Spring 2026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Exploratory Data Analysis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371600" cy="36576"/>
          </a:xfrm>
          <a:prstGeom prst="rect">
            <a:avLst/>
          </a:prstGeom>
          <a:solidFill>
            <a:srgbClr val="ED8B00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8046720" cy="62179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64008" cy="621792"/>
          </a:xfrm>
          <a:prstGeom prst="rect">
            <a:avLst/>
          </a:prstGeom>
          <a:solidFill>
            <a:srgbClr val="ED8B00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6" name="Text 4"/>
          <p:cNvSpPr/>
          <p:nvPr/>
        </p:nvSpPr>
        <p:spPr>
          <a:xfrm>
            <a:off x="822960" y="1179576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D8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Distribution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926080" y="1179576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Strongly right-skewed (skewness ~1.4), multimodal — three visible resonance peaks at 3.1, 9.5, and 91 GeV.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856232"/>
            <a:ext cx="8046720" cy="62179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9" name="Shape 7"/>
          <p:cNvSpPr/>
          <p:nvPr/>
        </p:nvSpPr>
        <p:spPr>
          <a:xfrm>
            <a:off x="548640" y="1856232"/>
            <a:ext cx="64008" cy="621792"/>
          </a:xfrm>
          <a:prstGeom prst="rect">
            <a:avLst/>
          </a:prstGeom>
          <a:solidFill>
            <a:srgbClr val="ED8B00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0" name="Text 8"/>
          <p:cNvSpPr/>
          <p:nvPr/>
        </p:nvSpPr>
        <p:spPr>
          <a:xfrm>
            <a:off x="822960" y="189280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D8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Features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926080" y="1892808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E1, E2, pt1, pt2 are right-skewed (skewness 2.3–3.0) with long tails from Z boson events. Log transformation reduces this significantly.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569464"/>
            <a:ext cx="8046720" cy="62179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3" name="Shape 11"/>
          <p:cNvSpPr/>
          <p:nvPr/>
        </p:nvSpPr>
        <p:spPr>
          <a:xfrm>
            <a:off x="548640" y="2569464"/>
            <a:ext cx="64008" cy="621792"/>
          </a:xfrm>
          <a:prstGeom prst="rect">
            <a:avLst/>
          </a:prstGeom>
          <a:solidFill>
            <a:srgbClr val="ED8B00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4" name="Text 12"/>
          <p:cNvSpPr/>
          <p:nvPr/>
        </p:nvSpPr>
        <p:spPr>
          <a:xfrm>
            <a:off x="822960" y="260604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D8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Features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926080" y="26060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eta: symmetric, bounded by detector acceptance. phi: near-uniform over [−π, +π]. No transformation needed.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282696"/>
            <a:ext cx="8046720" cy="62179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7" name="Shape 15"/>
          <p:cNvSpPr/>
          <p:nvPr/>
        </p:nvSpPr>
        <p:spPr>
          <a:xfrm>
            <a:off x="548640" y="3282696"/>
            <a:ext cx="64008" cy="621792"/>
          </a:xfrm>
          <a:prstGeom prst="rect">
            <a:avLst/>
          </a:prstGeom>
          <a:solidFill>
            <a:srgbClr val="ED8B00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8" name="Text 16"/>
          <p:cNvSpPr/>
          <p:nvPr/>
        </p:nvSpPr>
        <p:spPr>
          <a:xfrm>
            <a:off x="822960" y="331927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D8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926080" y="3319272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E–pt collinearity (r ≈ 0.87). E1, E2 have highest correlation with target M (r ≈ 0.65–0.70). Charge variables near zero.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995928"/>
            <a:ext cx="8046720" cy="62179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21" name="Shape 19"/>
          <p:cNvSpPr/>
          <p:nvPr/>
        </p:nvSpPr>
        <p:spPr>
          <a:xfrm>
            <a:off x="548640" y="3995928"/>
            <a:ext cx="64008" cy="621792"/>
          </a:xfrm>
          <a:prstGeom prst="rect">
            <a:avLst/>
          </a:prstGeom>
          <a:solidFill>
            <a:srgbClr val="ED8B00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22" name="Text 20"/>
          <p:cNvSpPr/>
          <p:nvPr/>
        </p:nvSpPr>
        <p:spPr>
          <a:xfrm>
            <a:off x="822960" y="4032504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D8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 Analysis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926080" y="4032504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~97% opposite-sign pairs (e⁺e⁻ signal), ~3% same-sign (background). Motivates binary 'opposite_sign' feature.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457200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26" name="Image 0" descr="/home/claude/ucylogo_transparent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7160" y="4773168"/>
            <a:ext cx="347472" cy="347472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548640" y="47731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2  ·  CERN Dielectron Dataset  ·  EPL448 Spring 2026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EDA — Target Variable Distribution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371600" cy="36576"/>
          </a:xfrm>
          <a:prstGeom prst="rect">
            <a:avLst/>
          </a:prstGeom>
          <a:solidFill>
            <a:srgbClr val="ED8B00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4" name="Image 0" descr="/home/claude/del2_images/img_04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1051560"/>
            <a:ext cx="8595360" cy="2926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4069080"/>
            <a:ext cx="804672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6" name="Shape 3"/>
          <p:cNvSpPr/>
          <p:nvPr/>
        </p:nvSpPr>
        <p:spPr>
          <a:xfrm>
            <a:off x="548640" y="4069080"/>
            <a:ext cx="64008" cy="594360"/>
          </a:xfrm>
          <a:prstGeom prst="rect">
            <a:avLst/>
          </a:prstGeom>
          <a:solidFill>
            <a:srgbClr val="ED8B00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7" name="Text 4"/>
          <p:cNvSpPr/>
          <p:nvPr/>
        </p:nvSpPr>
        <p:spPr>
          <a:xfrm>
            <a:off x="822960" y="41148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Right-skewed distribution with three resonance peaks visible in log scale: J/ψ (~3.1 GeV), Υ (~9.5 GeV), and Z boson (~91 GeV). This multimodal structure motivates region-level evaluation and log-transformation of M.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9" name="Image 1" descr="/home/claude/ucylogo_transparent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37160" y="4773168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8640" y="47731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2  ·  CERN Dielectron Dataset  ·  EPL448 Spring 2026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EDA — Correlation Analysis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371600" cy="36576"/>
          </a:xfrm>
          <a:prstGeom prst="rect">
            <a:avLst/>
          </a:prstGeom>
          <a:solidFill>
            <a:srgbClr val="ED8B00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4" name="Image 0" descr="/home/claude/del2_images/img_08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1051560"/>
            <a:ext cx="4023360" cy="35661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663440" y="1051560"/>
            <a:ext cx="4114800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6" name="Text 3"/>
          <p:cNvSpPr/>
          <p:nvPr/>
        </p:nvSpPr>
        <p:spPr>
          <a:xfrm>
            <a:off x="4846320" y="11430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D8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Correlations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846320" y="1508760"/>
            <a:ext cx="37490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E1–pt1 collinearity: r = 0.72</a:t>
            </a:r>
            <a:endParaRPr lang="en-US" sz="11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E2–pt2 collinearity: r = 0.76</a:t>
            </a:r>
            <a:endParaRPr lang="en-US" sz="11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correlations with target M:</a:t>
            </a:r>
            <a:endParaRPr lang="en-US" sz="11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pt1 (r = 0.44), pt2 (r = 0.44), E1 (r = 0.29), E2 (r = 0.32)</a:t>
            </a:r>
            <a:endParaRPr lang="en-US" sz="11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Pseudorapidity: eta1–pz1 (r = 0.77), eta2–pz2 (r = 0.76) — strong physics relationship</a:t>
            </a:r>
            <a:endParaRPr lang="en-US" sz="11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 Q1, Q2: near-zero correlations with all continuous features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ED8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Implication: High E–pt collinearity motivates PCA or selective feature removal. Eta–pz relationships suggest physics-informed engineered features.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9" name="Image 1" descr="/home/claude/ucylogo_transparent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37160" y="4773168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8640" y="47731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2  ·  CERN Dielectron Dataset  ·  EPL448 Spring 2026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EDA — Features vs Target 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371600" cy="36576"/>
          </a:xfrm>
          <a:prstGeom prst="rect">
            <a:avLst/>
          </a:prstGeom>
          <a:solidFill>
            <a:srgbClr val="ED8B00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4" name="Image 0" descr="/home/claude/del2_images/img_05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2880" y="1005840"/>
            <a:ext cx="8778240" cy="31089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4206240"/>
            <a:ext cx="804672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6" name="Shape 3"/>
          <p:cNvSpPr/>
          <p:nvPr/>
        </p:nvSpPr>
        <p:spPr>
          <a:xfrm>
            <a:off x="548640" y="4206240"/>
            <a:ext cx="64008" cy="502920"/>
          </a:xfrm>
          <a:prstGeom prst="rect">
            <a:avLst/>
          </a:prstGeom>
          <a:solidFill>
            <a:srgbClr val="ED8B00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7" name="Text 4"/>
          <p:cNvSpPr/>
          <p:nvPr/>
        </p:nvSpPr>
        <p:spPr>
          <a:xfrm>
            <a:off x="822960" y="4233672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features (E1, E2, pt1, pt2) show clear positive relationship with M. Angular features (eta, phi) show no linear trend — but may carry non-linear predictive value captured by tree-based models.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9" name="Image 1" descr="/home/claude/ucylogo_transparent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37160" y="4773168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8640" y="47731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2  ·  CERN Dielectron Dataset  ·  EPL448 Spring 2026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Preprocessing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371600" cy="36576"/>
          </a:xfrm>
          <a:prstGeom prst="rect">
            <a:avLst/>
          </a:prstGeom>
          <a:solidFill>
            <a:srgbClr val="ED8B00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457200" cy="457200"/>
          </a:xfrm>
          <a:prstGeom prst="ellipse">
            <a:avLst/>
          </a:prstGeom>
          <a:solidFill>
            <a:srgbClr val="ED8B00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5" name="Text 3"/>
          <p:cNvSpPr/>
          <p:nvPr/>
        </p:nvSpPr>
        <p:spPr>
          <a:xfrm>
            <a:off x="548640" y="1170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88720" y="11155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88720" y="138988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ID columns (Run, Event). No missing values. Retain all 'outliers' — physically valid.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883664"/>
            <a:ext cx="457200" cy="457200"/>
          </a:xfrm>
          <a:prstGeom prst="ellipse">
            <a:avLst/>
          </a:prstGeom>
          <a:solidFill>
            <a:srgbClr val="ED8B00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9" name="Text 7"/>
          <p:cNvSpPr/>
          <p:nvPr/>
        </p:nvSpPr>
        <p:spPr>
          <a:xfrm>
            <a:off x="548640" y="18836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88720" y="1828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88720" y="2103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physics features: sum_E, sum_pt, delta_R, delta_eta, delta_phi, opposite_sign, log_E1, log_E2.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596896"/>
            <a:ext cx="457200" cy="457200"/>
          </a:xfrm>
          <a:prstGeom prst="ellipse">
            <a:avLst/>
          </a:prstGeom>
          <a:solidFill>
            <a:srgbClr val="ED8B00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3" name="Text 11"/>
          <p:cNvSpPr/>
          <p:nvPr/>
        </p:nvSpPr>
        <p:spPr>
          <a:xfrm>
            <a:off x="548640" y="25968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88720" y="25420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88720" y="28163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Log1p on skewed energy/momentum features (skewness 2.3→~0). Optional log target (V3).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310128"/>
            <a:ext cx="457200" cy="457200"/>
          </a:xfrm>
          <a:prstGeom prst="ellipse">
            <a:avLst/>
          </a:prstGeom>
          <a:solidFill>
            <a:srgbClr val="ED8B00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7" name="Text 15"/>
          <p:cNvSpPr/>
          <p:nvPr/>
        </p:nvSpPr>
        <p:spPr>
          <a:xfrm>
            <a:off x="548640" y="3310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88720" y="32552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88720" y="352958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for KNN/PCA pipelines. Tree-based models are scale-invariant — no scaling needed.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023360"/>
            <a:ext cx="457200" cy="457200"/>
          </a:xfrm>
          <a:prstGeom prst="ellipse">
            <a:avLst/>
          </a:prstGeom>
          <a:solidFill>
            <a:srgbClr val="ED8B00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21" name="Text 19"/>
          <p:cNvSpPr/>
          <p:nvPr/>
        </p:nvSpPr>
        <p:spPr>
          <a:xfrm>
            <a:off x="54864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88720" y="396849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88720" y="4242816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retaining 95% variance (V5) — 10 components. Domain-driven V4: 8 selected features.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25" name="Image 0" descr="/home/claude/ucylogo_transparent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7160" y="4773168"/>
            <a:ext cx="347472" cy="347472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548640" y="47731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2  ·  CERN Dielectron Dataset  ·  EPL448 Spring 2026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Preprocessed Dataset Versions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371600" cy="36576"/>
          </a:xfrm>
          <a:prstGeom prst="rect">
            <a:avLst/>
          </a:prstGeom>
          <a:solidFill>
            <a:srgbClr val="ED8B00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804672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777240" cy="59436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6" name="Text 4"/>
          <p:cNvSpPr/>
          <p:nvPr/>
        </p:nvSpPr>
        <p:spPr>
          <a:xfrm>
            <a:off x="548640" y="1097280"/>
            <a:ext cx="777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54480" y="114300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— original cleaned features, StandardScaler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810512"/>
            <a:ext cx="8046720" cy="594360"/>
          </a:xfrm>
          <a:prstGeom prst="rect">
            <a:avLst/>
          </a:prstGeom>
          <a:solidFill>
            <a:srgbClr val="FFFFFF"/>
          </a:solidFill>
          <a:ln w="19050">
            <a:solidFill>
              <a:srgbClr val="ED8B0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9" name="Shape 7"/>
          <p:cNvSpPr/>
          <p:nvPr/>
        </p:nvSpPr>
        <p:spPr>
          <a:xfrm>
            <a:off x="548640" y="1810512"/>
            <a:ext cx="777240" cy="594360"/>
          </a:xfrm>
          <a:prstGeom prst="rect">
            <a:avLst/>
          </a:prstGeom>
          <a:solidFill>
            <a:srgbClr val="ED8B00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0" name="Text 8"/>
          <p:cNvSpPr/>
          <p:nvPr/>
        </p:nvSpPr>
        <p:spPr>
          <a:xfrm>
            <a:off x="548640" y="1810512"/>
            <a:ext cx="777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54480" y="185623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Log-transformed energy &amp; momentum features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523744"/>
            <a:ext cx="804672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3" name="Shape 11"/>
          <p:cNvSpPr/>
          <p:nvPr/>
        </p:nvSpPr>
        <p:spPr>
          <a:xfrm>
            <a:off x="548640" y="2523744"/>
            <a:ext cx="777240" cy="59436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4" name="Text 12"/>
          <p:cNvSpPr/>
          <p:nvPr/>
        </p:nvSpPr>
        <p:spPr>
          <a:xfrm>
            <a:off x="548640" y="2523744"/>
            <a:ext cx="777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554480" y="2569464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+ log-transformed target (log M)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236976"/>
            <a:ext cx="8046720" cy="594360"/>
          </a:xfrm>
          <a:prstGeom prst="rect">
            <a:avLst/>
          </a:prstGeom>
          <a:solidFill>
            <a:srgbClr val="FFFFFF"/>
          </a:solidFill>
          <a:ln w="19050">
            <a:solidFill>
              <a:srgbClr val="ED8B0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7" name="Shape 15"/>
          <p:cNvSpPr/>
          <p:nvPr/>
        </p:nvSpPr>
        <p:spPr>
          <a:xfrm>
            <a:off x="548640" y="3236976"/>
            <a:ext cx="777240" cy="594360"/>
          </a:xfrm>
          <a:prstGeom prst="rect">
            <a:avLst/>
          </a:prstGeom>
          <a:solidFill>
            <a:srgbClr val="ED8B00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8" name="Text 16"/>
          <p:cNvSpPr/>
          <p:nvPr/>
        </p:nvSpPr>
        <p:spPr>
          <a:xfrm>
            <a:off x="548640" y="3236976"/>
            <a:ext cx="777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554480" y="3282696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8-feature domain-driven set (sum_E, sum_pt, delta_R, delta_eta, delta_phi, opposite_sign, log_E1, log_E2)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950208"/>
            <a:ext cx="804672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21" name="Shape 19"/>
          <p:cNvSpPr/>
          <p:nvPr/>
        </p:nvSpPr>
        <p:spPr>
          <a:xfrm>
            <a:off x="548640" y="3950208"/>
            <a:ext cx="777240" cy="59436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22" name="Text 20"/>
          <p:cNvSpPr/>
          <p:nvPr/>
        </p:nvSpPr>
        <p:spPr>
          <a:xfrm>
            <a:off x="548640" y="3950208"/>
            <a:ext cx="777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554480" y="399592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+ PCA (95% variance retained → 10 components)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457200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 stratified train/test split (stratified by binned mass region) — 79,932 train / 19,983 test events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26" name="Image 0" descr="/home/claude/ucylogo_transparent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7160" y="4773168"/>
            <a:ext cx="347472" cy="347472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548640" y="47731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2  ·  CERN Dielectron Dataset  ·  EPL448 Spring 2026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Regression Techniques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371600" cy="36576"/>
          </a:xfrm>
          <a:prstGeom prst="rect">
            <a:avLst/>
          </a:prstGeom>
          <a:solidFill>
            <a:srgbClr val="ED8B00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393192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3931920" cy="4572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194560" y="11430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K-Nearest Neighbors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69164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Instance-based, distance-weighted. Sensitive to scaling — benefits from PCA.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393192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0" name="Shape 8"/>
          <p:cNvSpPr/>
          <p:nvPr/>
        </p:nvSpPr>
        <p:spPr>
          <a:xfrm>
            <a:off x="4754880" y="1097280"/>
            <a:ext cx="3931920" cy="4572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1" name="Text 9"/>
          <p:cNvSpPr/>
          <p:nvPr/>
        </p:nvSpPr>
        <p:spPr>
          <a:xfrm>
            <a:off x="4937760" y="11430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ExtraTrees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00800" y="11430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Extra-Trees Ensemble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37760" y="169164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Randomized tree ensemble (replaced Random Forest for efficiency). Scale-invariant.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2926080"/>
            <a:ext cx="393192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5" name="Shape 13"/>
          <p:cNvSpPr/>
          <p:nvPr/>
        </p:nvSpPr>
        <p:spPr>
          <a:xfrm>
            <a:off x="548640" y="2926080"/>
            <a:ext cx="3931920" cy="4572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6" name="Text 14"/>
          <p:cNvSpPr/>
          <p:nvPr/>
        </p:nvSpPr>
        <p:spPr>
          <a:xfrm>
            <a:off x="731520" y="29718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CatBoost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194560" y="29718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Boosting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1520" y="352044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with ordered boosting &amp; L2 regularization. GPU-accelerated.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2926080"/>
            <a:ext cx="393192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20" name="Shape 18"/>
          <p:cNvSpPr/>
          <p:nvPr/>
        </p:nvSpPr>
        <p:spPr>
          <a:xfrm>
            <a:off x="4754880" y="2926080"/>
            <a:ext cx="3931920" cy="45720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21" name="Text 19"/>
          <p:cNvSpPr/>
          <p:nvPr/>
        </p:nvSpPr>
        <p:spPr>
          <a:xfrm>
            <a:off x="4937760" y="29718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400800" y="29718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 Gradient Boosting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37760" y="352044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Regularized boosting with column subsampling. State-of-the-art for tabular data.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25" name="Image 0" descr="/home/claude/ucylogo_transparent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7160" y="4773168"/>
            <a:ext cx="347472" cy="347472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548640" y="47731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2  ·  CERN Dielectron Dataset  ·  EPL448 Spring 2026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Initial Model Screening — 5-Fold CV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371600" cy="36576"/>
          </a:xfrm>
          <a:prstGeom prst="rect">
            <a:avLst/>
          </a:prstGeom>
          <a:solidFill>
            <a:srgbClr val="ED8B00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4" name="Image 0" descr="/home/claude/hires_screening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1051560"/>
            <a:ext cx="8595360" cy="2743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3931920"/>
            <a:ext cx="804672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6" name="Shape 3"/>
          <p:cNvSpPr/>
          <p:nvPr/>
        </p:nvSpPr>
        <p:spPr>
          <a:xfrm>
            <a:off x="548640" y="3931920"/>
            <a:ext cx="64008" cy="640080"/>
          </a:xfrm>
          <a:prstGeom prst="rect">
            <a:avLst/>
          </a:prstGeom>
          <a:solidFill>
            <a:srgbClr val="C4D600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7" name="Text 4"/>
          <p:cNvSpPr/>
          <p:nvPr/>
        </p:nvSpPr>
        <p:spPr>
          <a:xfrm>
            <a:off x="822960" y="397764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finding: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CatBoost and XGBoost consistently outperform KNN and ExtraTrees. V4 (domain-driven) and V2 (log-transformed) are the strongest dataset versions. PCA-based V5 underperforms.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9" name="Image 1" descr="/home/claude/ucylogo_transparent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37160" y="4773168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8640" y="47731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2  ·  CERN Dielectron Dataset  ·  EPL448 Spring 2026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Screening Results — Top Performers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371600" cy="36576"/>
          </a:xfrm>
          <a:prstGeom prst="rect">
            <a:avLst/>
          </a:prstGeom>
          <a:solidFill>
            <a:srgbClr val="ED8B00"/>
          </a:solidFill>
          <a:ln/>
        </p:spPr>
        <p:txBody>
          <a:bodyPr/>
          <a:lstStyle/>
          <a:p>
            <a:endParaRPr lang="LID4096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8046720" cy="2642616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 (CV)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 (GeV)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 (GeV)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D8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CatBoost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D8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D8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D8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D8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1.389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CatBoost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0.9913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2.353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1.621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0.9918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2.289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D8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D8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D8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0.9898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D8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2.555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D8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0.9773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2.652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3.296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2.006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0.9038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7.833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4.898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023360"/>
            <a:ext cx="8046720" cy="594360"/>
          </a:xfrm>
          <a:prstGeom prst="rect">
            <a:avLst/>
          </a:prstGeom>
          <a:solidFill>
            <a:srgbClr val="ED8B00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6" name="Text 3"/>
          <p:cNvSpPr/>
          <p:nvPr/>
        </p:nvSpPr>
        <p:spPr>
          <a:xfrm>
            <a:off x="548640" y="402336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for tuning:  CatBoost × {V4, V2}   +   XGBoost × {V4, V2}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8" name="Image 0" descr="/home/claude/ucylogo_transparent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7160" y="4773168"/>
            <a:ext cx="347472" cy="34747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48640" y="47731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2  ·  CERN Dielectron Dataset  ·  EPL448 Spring 2026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Hyperparameter Tuning (GridSearchCV)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371600" cy="36576"/>
          </a:xfrm>
          <a:prstGeom prst="rect">
            <a:avLst/>
          </a:prstGeom>
          <a:solidFill>
            <a:srgbClr val="ED8B00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804672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5" name="Text 3"/>
          <p:cNvSpPr/>
          <p:nvPr/>
        </p:nvSpPr>
        <p:spPr>
          <a:xfrm>
            <a:off x="822960" y="1188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D8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CatBoost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150876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= 8, learning_rate = 0.1, estimators = 500, L2 reg = 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0" y="11887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V4 &amp; V2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194560"/>
            <a:ext cx="804672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9" name="Text 7"/>
          <p:cNvSpPr/>
          <p:nvPr/>
        </p:nvSpPr>
        <p:spPr>
          <a:xfrm>
            <a:off x="822960" y="2286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D8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260604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max_depth = 6 (V4) / 10 (V2), learning_rate = 0.1, estimators = 500, colsample = 0.8–1.0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58000" y="22860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V4 &amp; V2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291840"/>
            <a:ext cx="804672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3" name="Text 11"/>
          <p:cNvSpPr/>
          <p:nvPr/>
        </p:nvSpPr>
        <p:spPr>
          <a:xfrm>
            <a:off x="822960" y="33832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 improvements (R² gain over defaults):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3703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CAT/V4: +0.0007    CAT/V2: +0.0016    XGB/V4: +0.0036    XGB/V2: +0.0123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4069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ED8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choices (especially V4) had at least as much impact as hyperparameter tuning.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17" name="Image 0" descr="/home/claude/ucylogo_transparent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7160" y="4773168"/>
            <a:ext cx="347472" cy="347472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548640" y="47731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2  ·  CERN Dielectron Dataset  ·  EPL448 Spring 2026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Final Model Evaluation — Test Set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371600" cy="36576"/>
          </a:xfrm>
          <a:prstGeom prst="rect">
            <a:avLst/>
          </a:prstGeom>
          <a:solidFill>
            <a:srgbClr val="ED8B00"/>
          </a:solidFill>
          <a:ln/>
        </p:spPr>
        <p:txBody>
          <a:bodyPr/>
          <a:lstStyle/>
          <a:p>
            <a:endParaRPr lang="LID4096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8046720" cy="182880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 (GeV)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 (GeV)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MAPE (%)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D8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CatBoost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D8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D8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0.9937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1.347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9.96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0.9935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2.041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1.065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4.76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CatBoost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2.196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2.496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12.64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200400"/>
            <a:ext cx="384048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ED8B0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6" name="Text 3"/>
          <p:cNvSpPr/>
          <p:nvPr/>
        </p:nvSpPr>
        <p:spPr>
          <a:xfrm>
            <a:off x="731520" y="32461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R²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31520" y="35204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D8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CatBoost / V2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31520" y="39319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R² = 0.9937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4754880" y="3200400"/>
            <a:ext cx="384048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EF4444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0" name="Text 7"/>
          <p:cNvSpPr/>
          <p:nvPr/>
        </p:nvSpPr>
        <p:spPr>
          <a:xfrm>
            <a:off x="4937760" y="32461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Error Profile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937760" y="35204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/ V4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4937760" y="39319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= 1.065 GeV  |  MAPE = 4.76%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14" name="Image 0" descr="/home/claude/ucylogo_transparent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7160" y="4773168"/>
            <a:ext cx="347472" cy="34747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48640" y="47731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2  ·  CERN Dielectron Dataset  ·  EPL448 Spring 2026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Predicted vs Actual — Test Set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371600" cy="36576"/>
          </a:xfrm>
          <a:prstGeom prst="rect">
            <a:avLst/>
          </a:prstGeom>
          <a:solidFill>
            <a:srgbClr val="ED8B00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4" name="Image 0" descr="/home/claude/hires_pred_vs_actual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2880" y="1051560"/>
            <a:ext cx="8778240" cy="2926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4069080"/>
            <a:ext cx="804672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6" name="Shape 3"/>
          <p:cNvSpPr/>
          <p:nvPr/>
        </p:nvSpPr>
        <p:spPr>
          <a:xfrm>
            <a:off x="548640" y="4069080"/>
            <a:ext cx="64008" cy="594360"/>
          </a:xfrm>
          <a:prstGeom prst="rect">
            <a:avLst/>
          </a:prstGeom>
          <a:solidFill>
            <a:srgbClr val="C4D600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7" name="Text 4"/>
          <p:cNvSpPr/>
          <p:nvPr/>
        </p:nvSpPr>
        <p:spPr>
          <a:xfrm>
            <a:off x="822960" y="41148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tuned models follow the identity line closely across the full mass spectrum. R² and RMSE annotations per panel confirm strong fit, with CAT/V2 achieving the tightest scatter (R² = 0.9937).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9" name="Image 1" descr="/home/claude/ucylogo_transparent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37160" y="4773168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8640" y="47731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2  ·  CERN Dielectron Dataset  ·  EPL448 Spring 2026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Residual Diagnostics — Tuned Models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371600" cy="36576"/>
          </a:xfrm>
          <a:prstGeom prst="rect">
            <a:avLst/>
          </a:prstGeom>
          <a:solidFill>
            <a:srgbClr val="ED8B00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4" name="Image 0" descr="/home/claude/hires_residuals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2880" y="1005840"/>
            <a:ext cx="8778240" cy="3200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4297680"/>
            <a:ext cx="8046720" cy="411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6" name="Shape 3"/>
          <p:cNvSpPr/>
          <p:nvPr/>
        </p:nvSpPr>
        <p:spPr>
          <a:xfrm>
            <a:off x="548640" y="4297680"/>
            <a:ext cx="64008" cy="411480"/>
          </a:xfrm>
          <a:prstGeom prst="rect">
            <a:avLst/>
          </a:prstGeom>
          <a:solidFill>
            <a:srgbClr val="FFCD00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7" name="Text 4"/>
          <p:cNvSpPr/>
          <p:nvPr/>
        </p:nvSpPr>
        <p:spPr>
          <a:xfrm>
            <a:off x="822960" y="4315968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Residuals centered near zero with no systematic drift. V2-based models show wider spread in the low-mass region — consistent with the region-level analysis.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9" name="Image 1" descr="/home/claude/ucylogo_transparent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37160" y="4773168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8640" y="47731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2  ·  CERN Dielectron Dataset  ·  EPL448 Spring 2026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B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Performance by Mass Region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371600" cy="36576"/>
          </a:xfrm>
          <a:prstGeom prst="rect">
            <a:avLst/>
          </a:prstGeom>
          <a:solidFill>
            <a:srgbClr val="ED8B00"/>
          </a:solidFill>
          <a:ln/>
        </p:spPr>
        <p:txBody>
          <a:bodyPr/>
          <a:lstStyle/>
          <a:p>
            <a:endParaRPr lang="LID4096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51560"/>
          <a:ext cx="8046720" cy="224028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MAPE (%)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4D6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4D6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4D6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(&lt;10 GeV)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4D6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0.9371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4D6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4D6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6.17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F47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F47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F47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(&lt;10 GeV)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F47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0.0567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F47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2.441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F47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41.73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4D6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4D6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4D6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(&lt;10 GeV)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4D6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0.9009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4D6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4D6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9.87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F47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F47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F47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(&lt;10 GeV)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F47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0.3201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F47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2.072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F47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32.73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 (10–50)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0.9572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2.091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(&gt;50)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0.9716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2.698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520440"/>
            <a:ext cx="8046720" cy="105156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6" name="Text 3"/>
          <p:cNvSpPr/>
          <p:nvPr/>
        </p:nvSpPr>
        <p:spPr>
          <a:xfrm>
            <a:off x="822960" y="3611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C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Insight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22960" y="393192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V4 (domain-driven features) maintains strong performance across all mass regions, including the difficult low-mass regime. V2 models collapse in the low-mass region (R² near 0 for XGB/V2). </a:t>
            </a:r>
            <a:r>
              <a:rPr lang="en-US" sz="1200" b="1" dirty="0">
                <a:solidFill>
                  <a:srgbClr val="FFC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Physics-informed feature engineering &gt; generic transformations.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9" name="Image 0" descr="/home/claude/ucylogo_transparent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7160" y="4773168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8640" y="47731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2  ·  CERN Dielectron Dataset  ·  EPL448 Spring 2026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B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 Importance Analysis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371600" cy="36576"/>
          </a:xfrm>
          <a:prstGeom prst="rect">
            <a:avLst/>
          </a:prstGeom>
          <a:solidFill>
            <a:srgbClr val="ED8B00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4" name="Image 0" descr="/home/claude/hires_feature_importance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5760" y="1051560"/>
            <a:ext cx="4846320" cy="32918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0" y="1097280"/>
            <a:ext cx="329184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6" name="Text 3"/>
          <p:cNvSpPr/>
          <p:nvPr/>
        </p:nvSpPr>
        <p:spPr>
          <a:xfrm>
            <a:off x="5669280" y="11887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D8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669280" y="1554480"/>
            <a:ext cx="29260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features: eta2, eta1, pz1, log_E1, log_E2 — all kinematic variables directly connected to invariant mass.</a:t>
            </a:r>
            <a:endParaRPr lang="en-US" sz="11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 variables Q1, Q2 contribute almost nothing — consistent with physics (charge determines event category, not mass magnitude).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ED8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confirms the domain validity of the trained models.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9" name="Image 1" descr="/home/claude/ucylogo_transparent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37160" y="4773168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8640" y="47731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2  ·  CERN Dielectron Dataset  ·  EPL448 Spring 2026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B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Comparison with Literature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371600" cy="36576"/>
          </a:xfrm>
          <a:prstGeom prst="rect">
            <a:avLst/>
          </a:prstGeom>
          <a:solidFill>
            <a:srgbClr val="ED8B00"/>
          </a:solidFill>
          <a:ln/>
        </p:spPr>
        <p:txBody>
          <a:bodyPr/>
          <a:lstStyle/>
          <a:p>
            <a:endParaRPr lang="LID4096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51560"/>
          <a:ext cx="8046720" cy="2084832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Kilic et al. (2023)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This Study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Classification (Z-boson peak region)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ED8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Regression (full mass range)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Dielectron events near Z peak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ED8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invariant-mass spectrum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Algorithms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RF, WRF, BRF, LightGBM, DNN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KNN, ExtraTrees, CatBoost, XGBoost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result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99.3% accuracy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ED8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 = 0.9937, MAPE = 4.76%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specified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Explicit engineering + V4 reduced set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337560"/>
            <a:ext cx="804672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6" name="Shape 3"/>
          <p:cNvSpPr/>
          <p:nvPr/>
        </p:nvSpPr>
        <p:spPr>
          <a:xfrm>
            <a:off x="548640" y="3337560"/>
            <a:ext cx="64008" cy="640080"/>
          </a:xfrm>
          <a:prstGeom prst="rect">
            <a:avLst/>
          </a:prstGeom>
          <a:solidFill>
            <a:srgbClr val="FFCD00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7" name="Text 4"/>
          <p:cNvSpPr/>
          <p:nvPr/>
        </p:nvSpPr>
        <p:spPr>
          <a:xfrm>
            <a:off x="822960" y="338328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Direct metric comparison is not possible (classification vs regression on different subsets). The common conclusion is that ensemble tree-based methods are highly effective for this data family.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9" name="Image 0" descr="/home/claude/ucylogo_transparent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7160" y="4773168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8640" y="47731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2  ·  CERN Dielectron Dataset  ·  EPL448 Spring 2026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B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Findings &amp; Limitations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371600" cy="36576"/>
          </a:xfrm>
          <a:prstGeom prst="rect">
            <a:avLst/>
          </a:prstGeom>
          <a:solidFill>
            <a:srgbClr val="ED8B00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D8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5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63040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141732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tuned models exceed R² = 0.99 on the test set</a:t>
            </a:r>
            <a:endParaRPr lang="en-US" sz="11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965960"/>
            <a:ext cx="274320" cy="274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60120" y="192024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Domain-driven V4 outperforms PCA-based V5 across all models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468880"/>
            <a:ext cx="274320" cy="27432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0120" y="242316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V4 is especially strong in the low-mass region where V2 collapses</a:t>
            </a:r>
            <a:endParaRPr lang="en-US" sz="11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971800"/>
            <a:ext cx="274320" cy="27432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60120" y="292608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matters more than hyperparameter tuning</a:t>
            </a:r>
            <a:endParaRPr lang="en-US" sz="11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474720"/>
            <a:ext cx="274320" cy="27432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960120" y="342900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aligns with physics expectations</a:t>
            </a:r>
            <a:endParaRPr lang="en-US" sz="1100" dirty="0"/>
          </a:p>
        </p:txBody>
      </p:sp>
      <p:sp>
        <p:nvSpPr>
          <p:cNvPr id="15" name="Text 8"/>
          <p:cNvSpPr/>
          <p:nvPr/>
        </p:nvSpPr>
        <p:spPr>
          <a:xfrm>
            <a:off x="4846320" y="10515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C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50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1463040"/>
            <a:ext cx="274320" cy="27432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5257800" y="141732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 remained computationally expensive even with reduced model set</a:t>
            </a:r>
            <a:endParaRPr lang="en-US" sz="1100" dirty="0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1965960"/>
            <a:ext cx="274320" cy="274320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5257800" y="192024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80/20 hold-out split (no repeated resampling)</a:t>
            </a:r>
            <a:endParaRPr lang="en-US" sz="1100" dirty="0"/>
          </a:p>
        </p:txBody>
      </p:sp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2468880"/>
            <a:ext cx="274320" cy="274320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5257800" y="242316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comparison is imperfect (classification vs regression)</a:t>
            </a:r>
            <a:endParaRPr lang="en-US" sz="1100" dirty="0"/>
          </a:p>
        </p:txBody>
      </p:sp>
      <p:pic>
        <p:nvPicPr>
          <p:cNvPr id="22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2971800"/>
            <a:ext cx="274320" cy="274320"/>
          </a:xfrm>
          <a:prstGeom prst="rect">
            <a:avLst/>
          </a:prstGeom>
        </p:spPr>
      </p:pic>
      <p:sp>
        <p:nvSpPr>
          <p:cNvPr id="23" name="Text 12"/>
          <p:cNvSpPr/>
          <p:nvPr/>
        </p:nvSpPr>
        <p:spPr>
          <a:xfrm>
            <a:off x="5257800" y="292608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underperformance may be pipeline/parameter specific</a:t>
            </a:r>
            <a:endParaRPr lang="en-US" sz="1100" dirty="0"/>
          </a:p>
        </p:txBody>
      </p:sp>
      <p:pic>
        <p:nvPicPr>
          <p:cNvPr id="24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3474720"/>
            <a:ext cx="274320" cy="274320"/>
          </a:xfrm>
          <a:prstGeom prst="rect">
            <a:avLst/>
          </a:prstGeom>
        </p:spPr>
      </p:pic>
      <p:sp>
        <p:nvSpPr>
          <p:cNvPr id="25" name="Text 13"/>
          <p:cNvSpPr/>
          <p:nvPr/>
        </p:nvSpPr>
        <p:spPr>
          <a:xfrm>
            <a:off x="5257800" y="342900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gains partly from domain knowledge in features</a:t>
            </a:r>
            <a:endParaRPr lang="en-US" sz="1100" dirty="0"/>
          </a:p>
        </p:txBody>
      </p:sp>
      <p:sp>
        <p:nvSpPr>
          <p:cNvPr id="26" name="Shape 1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27" name="Image 10" descr="/home/claude/ucylogo_transparent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37160" y="4773168"/>
            <a:ext cx="347472" cy="347472"/>
          </a:xfrm>
          <a:prstGeom prst="rect">
            <a:avLst/>
          </a:prstGeom>
        </p:spPr>
      </p:pic>
      <p:sp>
        <p:nvSpPr>
          <p:cNvPr id="28" name="Text 15"/>
          <p:cNvSpPr/>
          <p:nvPr/>
        </p:nvSpPr>
        <p:spPr>
          <a:xfrm>
            <a:off x="548640" y="47731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2  ·  CERN Dielectron Dataset  ·  EPL448 Spring 2026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D8B00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3" name="Image 0" descr="/home/claude/ucylogo_transparent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023360" y="32004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4630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3200400" y="2148840"/>
            <a:ext cx="2743200" cy="13716"/>
          </a:xfrm>
          <a:prstGeom prst="rect">
            <a:avLst/>
          </a:prstGeom>
          <a:solidFill>
            <a:srgbClr val="ED8B00">
              <a:alpha val="50000"/>
            </a:srgbClr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6" name="Text 3"/>
          <p:cNvSpPr/>
          <p:nvPr/>
        </p:nvSpPr>
        <p:spPr>
          <a:xfrm>
            <a:off x="1097280" y="2377440"/>
            <a:ext cx="6949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spcAft>
                <a:spcPts val="1200"/>
              </a:spcAft>
              <a:buNone/>
            </a:pPr>
            <a:r>
              <a:rPr lang="en-US" sz="14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boosted tree ensembles achieve R² &gt; 0.99 for invariant mass prediction on the CERN dielectron dataset.</a:t>
            </a:r>
            <a:endParaRPr lang="en-US" sz="1400" dirty="0">
              <a:solidFill>
                <a:srgbClr val="FF9900"/>
              </a:solidFill>
            </a:endParaRPr>
          </a:p>
          <a:p>
            <a:pPr marL="0" indent="0" algn="ctr">
              <a:spcAft>
                <a:spcPts val="1200"/>
              </a:spcAft>
              <a:buNone/>
            </a:pPr>
            <a:r>
              <a:rPr lang="en-US" sz="14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Physics-informed feature engineering consistently outperforms unsupervised dimensionality reduction.</a:t>
            </a:r>
            <a:endParaRPr lang="en-US" sz="1400" dirty="0">
              <a:solidFill>
                <a:srgbClr val="FF9900"/>
              </a:solidFill>
            </a:endParaRPr>
          </a:p>
          <a:p>
            <a:pPr marL="0" indent="0" algn="ctr">
              <a:buNone/>
            </a:pPr>
            <a:r>
              <a:rPr lang="en-US" sz="14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representation matters at least as much as the model — domain knowledge is the key differentiator.</a:t>
            </a:r>
            <a:endParaRPr lang="en-US" sz="1400" dirty="0">
              <a:solidFill>
                <a:srgbClr val="FF9900"/>
              </a:solidFill>
            </a:endParaRPr>
          </a:p>
        </p:txBody>
      </p:sp>
      <p:sp>
        <p:nvSpPr>
          <p:cNvPr id="7" name="Text 4"/>
          <p:cNvSpPr/>
          <p:nvPr/>
        </p:nvSpPr>
        <p:spPr>
          <a:xfrm>
            <a:off x="914400" y="44805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D8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Questions?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B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371600" cy="36576"/>
          </a:xfrm>
          <a:prstGeom prst="rect">
            <a:avLst/>
          </a:prstGeom>
          <a:solidFill>
            <a:srgbClr val="ED8B00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McCauley, T. (2014). Events with two electrons from 2010. CERN Open Data Portal.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Kilic, H., Ozturk, S., &amp; Yildirim, E. (2023). ML model performances for Z boson mass identification. EPJ Plus, 138.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21031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Pedregosa, F. et al. (2011). Scikit-learn: Machine Learning in Python. JMLR, 12.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606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Chen, T. &amp; Guestrin, C. (2016). XGBoost: A Scalable Tree Boosting System. KDD.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310896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Prokhorenkova, L. et al. (2018). CatBoost: unbiased boosting with categorical features. NeurIPS.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10" name="Image 0" descr="/home/claude/ucylogo_transparent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7160" y="4773168"/>
            <a:ext cx="347472" cy="34747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48640" y="47731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2  ·  CERN Dielectron Dataset  ·  EPL448 Spring 2026</a:t>
            </a:r>
            <a:endParaRPr lang="en-US" sz="900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Savon">
      <a:dk1>
        <a:sysClr val="windowText" lastClr="000000"/>
      </a:dk1>
      <a:lt1>
        <a:sysClr val="window" lastClr="FFFFFF"/>
      </a:lt1>
      <a:dk2>
        <a:srgbClr val="1485A4"/>
      </a:dk2>
      <a:lt2>
        <a:srgbClr val="E3DED1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F49100"/>
      </a:hlink>
      <a:folHlink>
        <a:srgbClr val="739D9B"/>
      </a:folHlink>
    </a:clrScheme>
    <a:fontScheme name="Savon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2000"/>
                <a:satMod val="160000"/>
              </a:schemeClr>
            </a:gs>
            <a:gs pos="77000">
              <a:schemeClr val="phClr">
                <a:tint val="100000"/>
                <a:shade val="73000"/>
                <a:satMod val="155000"/>
              </a:schemeClr>
            </a:gs>
            <a:gs pos="100000">
              <a:schemeClr val="phClr">
                <a:tint val="100000"/>
                <a:shade val="67000"/>
                <a:satMod val="145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C20BADFE-D095-436F-9677-9264042809F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TM03457510[[fn=Savon]]</Template>
  <TotalTime>10</TotalTime>
  <Words>2077</Words>
  <Application>Microsoft Office PowerPoint</Application>
  <PresentationFormat>On-screen Show (16:9)</PresentationFormat>
  <Paragraphs>356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Calibri</vt:lpstr>
      <vt:lpstr>Century Gothic</vt:lpstr>
      <vt:lpstr>Garamond</vt:lpstr>
      <vt:lpstr>Georgia</vt:lpstr>
      <vt:lpstr>Savon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CERN Dielectron Invariant Mass Prediction</dc:title>
  <dc:subject>PptxGenJS Presentation</dc:subject>
  <dc:creator>Team 2</dc:creator>
  <cp:lastModifiedBy>Varnavas Tryfonos</cp:lastModifiedBy>
  <cp:revision>3</cp:revision>
  <dcterms:created xsi:type="dcterms:W3CDTF">2026-04-13T08:56:51Z</dcterms:created>
  <dcterms:modified xsi:type="dcterms:W3CDTF">2026-04-13T09:08:46Z</dcterms:modified>
</cp:coreProperties>
</file>